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5" r:id="rId1"/>
  </p:sldMasterIdLst>
  <p:sldIdLst>
    <p:sldId id="256" r:id="rId2"/>
    <p:sldId id="274" r:id="rId3"/>
    <p:sldId id="275" r:id="rId4"/>
    <p:sldId id="283" r:id="rId5"/>
    <p:sldId id="279" r:id="rId6"/>
    <p:sldId id="280" r:id="rId7"/>
    <p:sldId id="281" r:id="rId8"/>
    <p:sldId id="28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8442F77-CE3C-4094-9174-D50FA1C64E2F}">
          <p14:sldIdLst>
            <p14:sldId id="256"/>
            <p14:sldId id="274"/>
            <p14:sldId id="275"/>
            <p14:sldId id="283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 varScale="1">
        <p:scale>
          <a:sx n="81" d="100"/>
          <a:sy n="81" d="100"/>
        </p:scale>
        <p:origin x="5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3105" y="802298"/>
            <a:ext cx="8561747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93106" y="3531204"/>
            <a:ext cx="8561746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F96EB-D0C5-4B44-816D-D153422948F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93105" y="329307"/>
            <a:ext cx="4897310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3E20A1A8-BC3F-4D43-9175-517B8A08788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2334637" y="798973"/>
            <a:ext cx="0" cy="2544756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2794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F96EB-D0C5-4B44-816D-D153422948F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A1A8-BC3F-4D43-9175-517B8A08788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3797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813" y="1756130"/>
            <a:ext cx="8562580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3806195"/>
            <a:ext cx="854999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F96EB-D0C5-4B44-816D-D153422948F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A1A8-BC3F-4D43-9175-517B8A08788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284510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8877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889"/>
            <a:ext cx="952015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34695" y="2010878"/>
            <a:ext cx="4608576" cy="343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4793" y="2017343"/>
            <a:ext cx="4604130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F96EB-D0C5-4B44-816D-D153422948F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A1A8-BC3F-4D43-9175-517B8A08788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334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163"/>
            <a:ext cx="9520157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2019549"/>
            <a:ext cx="460857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4695" y="2824269"/>
            <a:ext cx="460857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4791" y="2023003"/>
            <a:ext cx="4608576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4792" y="2821491"/>
            <a:ext cx="4608576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F96EB-D0C5-4B44-816D-D153422948F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A1A8-BC3F-4D43-9175-517B8A08788D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8825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F96EB-D0C5-4B44-816D-D153422948F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A1A8-BC3F-4D43-9175-517B8A08788D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7668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F96EB-D0C5-4B44-816D-D153422948F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A1A8-BC3F-4D43-9175-517B8A0878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786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42" y="798973"/>
            <a:ext cx="3183128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205491"/>
            <a:ext cx="3184989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F96EB-D0C5-4B44-816D-D153422948F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A1A8-BC3F-4D43-9175-517B8A08788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224711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9252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prstMaterial="matte">
              <a:bevelT w="133350" h="50800" prst="divo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5694" y="1129513"/>
            <a:ext cx="5447840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145992"/>
            <a:ext cx="5440037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34695" y="5469856"/>
            <a:ext cx="5440038" cy="320123"/>
          </a:xfrm>
        </p:spPr>
        <p:txBody>
          <a:bodyPr/>
          <a:lstStyle>
            <a:lvl1pPr algn="l">
              <a:defRPr/>
            </a:lvl1pPr>
          </a:lstStyle>
          <a:p>
            <a:fld id="{277F96EB-D0C5-4B44-816D-D153422948F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34910" y="318640"/>
            <a:ext cx="5453475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A1A8-BC3F-4D43-9175-517B8A08788D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71687" y="798973"/>
            <a:ext cx="0" cy="2161124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431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F96EB-D0C5-4B44-816D-D153422948F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A1A8-BC3F-4D43-9175-517B8A08788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4421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883863"/>
            <a:ext cx="1615742" cy="45749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694" y="883863"/>
            <a:ext cx="7738807" cy="45749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F96EB-D0C5-4B44-816D-D153422948F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0A1A8-BC3F-4D43-9175-517B8A08788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9439111" y="719272"/>
            <a:ext cx="1615742" cy="0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171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6" y="2015732"/>
            <a:ext cx="9520158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7F96EB-D0C5-4B44-816D-D153422948F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34695" y="329307"/>
            <a:ext cx="5855719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E20A1A8-BC3F-4D43-9175-517B8A08788D}" type="slidenum">
              <a:rPr lang="en-IN" smtClean="0"/>
              <a:t>‹#›</a:t>
            </a:fld>
            <a:endParaRPr lang="en-IN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3945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5AF6E-49B9-B698-32AA-2A5A65C60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86640" y="1253764"/>
            <a:ext cx="8361575" cy="1498861"/>
          </a:xfrm>
        </p:spPr>
        <p:txBody>
          <a:bodyPr>
            <a:normAutofit/>
          </a:bodyPr>
          <a:lstStyle/>
          <a:p>
            <a:r>
              <a:rPr lang="en-IN" sz="4800" dirty="0">
                <a:solidFill>
                  <a:schemeClr val="accent3">
                    <a:lumMod val="75000"/>
                  </a:schemeClr>
                </a:solidFill>
              </a:rPr>
              <a:t>HubSpot-Resend Intelligent Email Workflow</a:t>
            </a:r>
            <a:endParaRPr lang="en-IN" sz="4800" dirty="0">
              <a:solidFill>
                <a:schemeClr val="accent3">
                  <a:lumMod val="75000"/>
                </a:schemeClr>
              </a:solidFill>
              <a:latin typeface="Snap ITC" panose="04040A07060A020202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3808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5C058-0FD2-72EA-E71B-BF75C6996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7F51D-B835-C1B1-8BD8-817308FBB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accent6">
                    <a:lumMod val="50000"/>
                  </a:schemeClr>
                </a:solidFill>
              </a:rPr>
              <a:t> Objective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accent6">
                    <a:lumMod val="50000"/>
                  </a:schemeClr>
                </a:solidFill>
              </a:rPr>
              <a:t> Workflow Diagram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accent6">
                    <a:lumMod val="50000"/>
                  </a:schemeClr>
                </a:solidFill>
              </a:rPr>
              <a:t> Working Prototype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accent6">
                    <a:lumMod val="50000"/>
                  </a:schemeClr>
                </a:solidFill>
              </a:rPr>
              <a:t> Key Performance Observations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accent6">
                    <a:lumMod val="50000"/>
                  </a:schemeClr>
                </a:solidFill>
              </a:rPr>
              <a:t> Tools Used &amp; Rationale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accent6">
                    <a:lumMod val="50000"/>
                  </a:schemeClr>
                </a:solidFill>
              </a:rPr>
              <a:t> Limitations &amp; Safeguards</a:t>
            </a:r>
            <a:endParaRPr lang="en-US" sz="24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12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CAA3F-9270-FB67-C881-1247E9851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empus Sans ITC" panose="04020404030D07020202" pitchFamily="82" charset="0"/>
              </a:rPr>
              <a:t>OBJECTIVE</a:t>
            </a:r>
            <a:endParaRPr lang="en-IN" dirty="0"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955DBA86-C4B8-8041-76B5-82A900495A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79500" y="2336408"/>
            <a:ext cx="828803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Palatino Linotype (Body)"/>
              </a:rPr>
              <a:t>Stores contacts in HubSpot CRM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Palatino Linotype (Body)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Palatino Linotype (Body)"/>
              </a:rPr>
              <a:t>Generates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Palatino Linotype (Body)"/>
              </a:rPr>
              <a:t>personalized email content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Palatino Linotype (Body)"/>
              </a:rPr>
              <a:t> using profile context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Palatino Linotype (Body)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Palatino Linotype (Body)"/>
              </a:rPr>
              <a:t>Sends emails via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Palatino Linotype (Body)"/>
              </a:rPr>
              <a:t>Resend API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Palatino Linotype (Body)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Palatino Linotype (Body)"/>
              </a:rPr>
              <a:t>Tracks replies inside CRM or inbox thread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Palatino Linotype (Body)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Palatino Linotype (Body)"/>
              </a:rPr>
              <a:t>Demonstrates basic observability of outreach</a:t>
            </a:r>
          </a:p>
        </p:txBody>
      </p:sp>
    </p:spTree>
    <p:extLst>
      <p:ext uri="{BB962C8B-B14F-4D97-AF65-F5344CB8AC3E}">
        <p14:creationId xmlns:p14="http://schemas.microsoft.com/office/powerpoint/2010/main" val="738157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07BAB6-D7C6-4CEF-2F25-BCE6CCAA90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4154" y="1283617"/>
            <a:ext cx="6721310" cy="44808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5A6B9C-1648-088B-9081-D6516B9BD3DC}"/>
              </a:ext>
            </a:extLst>
          </p:cNvPr>
          <p:cNvSpPr txBox="1"/>
          <p:nvPr/>
        </p:nvSpPr>
        <p:spPr>
          <a:xfrm>
            <a:off x="1451727" y="537328"/>
            <a:ext cx="83804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empus Sans ITC" panose="04020404030D07020202" pitchFamily="82" charset="0"/>
              </a:rPr>
              <a:t>WORKFLOW DIAGRAM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938206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019AA-62AC-E0C3-67FF-11BCFB61D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46B0E-4FC7-A873-91E3-0CA605C2C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empus Sans ITC" panose="04020404030D07020202" pitchFamily="82" charset="0"/>
              </a:rPr>
              <a:t>WORKING PROTOTYPE</a:t>
            </a: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0F284D3-ECAE-9E59-4A76-8C27F5B454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5548110"/>
              </p:ext>
            </p:extLst>
          </p:nvPr>
        </p:nvGraphicFramePr>
        <p:xfrm>
          <a:off x="1404594" y="1926621"/>
          <a:ext cx="10473180" cy="4126860"/>
        </p:xfrm>
        <a:graphic>
          <a:graphicData uri="http://schemas.openxmlformats.org/drawingml/2006/table">
            <a:tbl>
              <a:tblPr/>
              <a:tblGrid>
                <a:gridCol w="5236590">
                  <a:extLst>
                    <a:ext uri="{9D8B030D-6E8A-4147-A177-3AD203B41FA5}">
                      <a16:colId xmlns:a16="http://schemas.microsoft.com/office/drawing/2014/main" val="3818401770"/>
                    </a:ext>
                  </a:extLst>
                </a:gridCol>
                <a:gridCol w="5236590">
                  <a:extLst>
                    <a:ext uri="{9D8B030D-6E8A-4147-A177-3AD203B41FA5}">
                      <a16:colId xmlns:a16="http://schemas.microsoft.com/office/drawing/2014/main" val="2957686108"/>
                    </a:ext>
                  </a:extLst>
                </a:gridCol>
              </a:tblGrid>
              <a:tr h="396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chemeClr val="accent1"/>
                          </a:solidFill>
                        </a:rPr>
                        <a:t>Component</a:t>
                      </a:r>
                    </a:p>
                  </a:txBody>
                  <a:tcPr marL="9095" marR="9095" marT="4548" marB="45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chemeClr val="accent1"/>
                          </a:solidFill>
                        </a:rPr>
                        <a:t>Description</a:t>
                      </a:r>
                    </a:p>
                  </a:txBody>
                  <a:tcPr marL="9095" marR="9095" marT="4548" marB="45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048269"/>
                  </a:ext>
                </a:extLst>
              </a:tr>
              <a:tr h="574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CRM Setup</a:t>
                      </a:r>
                    </a:p>
                  </a:txBody>
                  <a:tcPr marL="9095" marR="9095" marT="4548" marB="45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Created HubSpot trial account and added 3 contacts</a:t>
                      </a:r>
                    </a:p>
                  </a:txBody>
                  <a:tcPr marL="9095" marR="9095" marT="4548" marB="45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8365194"/>
                  </a:ext>
                </a:extLst>
              </a:tr>
              <a:tr h="291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Data Input</a:t>
                      </a:r>
                    </a:p>
                  </a:txBody>
                  <a:tcPr marL="9095" marR="9095" marT="4548" marB="45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Contact emails stored in CRM database</a:t>
                      </a:r>
                    </a:p>
                  </a:txBody>
                  <a:tcPr marL="9095" marR="9095" marT="4548" marB="45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752391"/>
                  </a:ext>
                </a:extLst>
              </a:tr>
              <a:tr h="574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Personalization Logic</a:t>
                      </a:r>
                    </a:p>
                  </a:txBody>
                  <a:tcPr marL="9095" marR="9095" marT="4548" marB="45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Simple AI-assisted business introduction email drafted</a:t>
                      </a:r>
                    </a:p>
                  </a:txBody>
                  <a:tcPr marL="9095" marR="9095" marT="4548" marB="45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381156"/>
                  </a:ext>
                </a:extLst>
              </a:tr>
              <a:tr h="291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Email Sending</a:t>
                      </a:r>
                    </a:p>
                  </a:txBody>
                  <a:tcPr marL="9095" marR="9095" marT="4548" marB="45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Used Resend API to send outreach emails</a:t>
                      </a:r>
                    </a:p>
                  </a:txBody>
                  <a:tcPr marL="9095" marR="9095" marT="4548" marB="45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2757175"/>
                  </a:ext>
                </a:extLst>
              </a:tr>
              <a:tr h="291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Delivery Verification</a:t>
                      </a:r>
                    </a:p>
                  </a:txBody>
                  <a:tcPr marL="9095" marR="9095" marT="4548" marB="45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Emails successfully reached inbox</a:t>
                      </a:r>
                    </a:p>
                  </a:txBody>
                  <a:tcPr marL="9095" marR="9095" marT="4548" marB="45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978382"/>
                  </a:ext>
                </a:extLst>
              </a:tr>
              <a:tr h="574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Reply Tracking</a:t>
                      </a:r>
                    </a:p>
                  </a:txBody>
                  <a:tcPr marL="9095" marR="9095" marT="4548" marB="45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Replies appear in Gmail / CRM thread conversation</a:t>
                      </a:r>
                    </a:p>
                  </a:txBody>
                  <a:tcPr marL="9095" marR="9095" marT="4548" marB="45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652614"/>
                  </a:ext>
                </a:extLst>
              </a:tr>
              <a:tr h="291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Tech Stack</a:t>
                      </a:r>
                    </a:p>
                  </a:txBody>
                  <a:tcPr marL="9095" marR="9095" marT="4548" marB="45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HubSpot CRM + Node.js + Resend API</a:t>
                      </a:r>
                    </a:p>
                  </a:txBody>
                  <a:tcPr marL="9095" marR="9095" marT="4548" marB="45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6801404"/>
                  </a:ext>
                </a:extLst>
              </a:tr>
              <a:tr h="574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Demo Scope</a:t>
                      </a:r>
                    </a:p>
                  </a:txBody>
                  <a:tcPr marL="9095" marR="9095" marT="4548" marB="45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Shows end-to-end outreach automation pipeline</a:t>
                      </a:r>
                    </a:p>
                  </a:txBody>
                  <a:tcPr marL="9095" marR="9095" marT="4548" marB="45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30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5949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1B03C-E273-A8CB-141F-9AFC049B5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4DB56-168B-19EF-EA8A-2F32ABF06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554" y="848412"/>
            <a:ext cx="9520158" cy="79795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empus Sans ITC" panose="04020404030D07020202" pitchFamily="82" charset="0"/>
              </a:rPr>
              <a:t>KEY PERFORMANCE OBSERVATIONS</a:t>
            </a:r>
            <a:endParaRPr lang="en-IN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021BFE75-0DE4-2E57-37DA-3E92554D01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261715"/>
              </p:ext>
            </p:extLst>
          </p:nvPr>
        </p:nvGraphicFramePr>
        <p:xfrm>
          <a:off x="1838227" y="2130457"/>
          <a:ext cx="7767686" cy="3342048"/>
        </p:xfrm>
        <a:graphic>
          <a:graphicData uri="http://schemas.openxmlformats.org/drawingml/2006/table">
            <a:tbl>
              <a:tblPr/>
              <a:tblGrid>
                <a:gridCol w="3883843">
                  <a:extLst>
                    <a:ext uri="{9D8B030D-6E8A-4147-A177-3AD203B41FA5}">
                      <a16:colId xmlns:a16="http://schemas.microsoft.com/office/drawing/2014/main" val="287264335"/>
                    </a:ext>
                  </a:extLst>
                </a:gridCol>
                <a:gridCol w="3883843">
                  <a:extLst>
                    <a:ext uri="{9D8B030D-6E8A-4147-A177-3AD203B41FA5}">
                      <a16:colId xmlns:a16="http://schemas.microsoft.com/office/drawing/2014/main" val="2865551786"/>
                    </a:ext>
                  </a:extLst>
                </a:gridCol>
              </a:tblGrid>
              <a:tr h="521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accent1"/>
                          </a:solidFill>
                        </a:rPr>
                        <a:t>Metric</a:t>
                      </a:r>
                    </a:p>
                  </a:txBody>
                  <a:tcPr marL="18190" marR="18190" marT="9095" marB="9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chemeClr val="accent1"/>
                          </a:solidFill>
                        </a:rPr>
                        <a:t>Observation</a:t>
                      </a:r>
                    </a:p>
                  </a:txBody>
                  <a:tcPr marL="18190" marR="18190" marT="9095" marB="9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4966890"/>
                  </a:ext>
                </a:extLst>
              </a:tr>
              <a:tr h="521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Delivery Rate</a:t>
                      </a:r>
                    </a:p>
                  </a:txBody>
                  <a:tcPr marL="18190" marR="18190" marT="9095" marB="9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Depends on sender domain reputation</a:t>
                      </a:r>
                    </a:p>
                  </a:txBody>
                  <a:tcPr marL="18190" marR="18190" marT="9095" marB="9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144319"/>
                  </a:ext>
                </a:extLst>
              </a:tr>
              <a:tr h="521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Open Rate</a:t>
                      </a:r>
                    </a:p>
                  </a:txBody>
                  <a:tcPr marL="18190" marR="18190" marT="9095" marB="9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Improved by personalization</a:t>
                      </a:r>
                    </a:p>
                  </a:txBody>
                  <a:tcPr marL="18190" marR="18190" marT="9095" marB="9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5601751"/>
                  </a:ext>
                </a:extLst>
              </a:tr>
              <a:tr h="521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Reply Rate</a:t>
                      </a:r>
                    </a:p>
                  </a:txBody>
                  <a:tcPr marL="18190" marR="18190" marT="9095" marB="9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Higher with LinkedIn context</a:t>
                      </a:r>
                    </a:p>
                  </a:txBody>
                  <a:tcPr marL="18190" marR="18190" marT="9095" marB="9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175291"/>
                  </a:ext>
                </a:extLst>
              </a:tr>
              <a:tr h="521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Latency</a:t>
                      </a:r>
                    </a:p>
                  </a:txBody>
                  <a:tcPr marL="18190" marR="18190" marT="9095" marB="9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Resend API usually &lt; 1s send time</a:t>
                      </a:r>
                    </a:p>
                  </a:txBody>
                  <a:tcPr marL="18190" marR="18190" marT="9095" marB="9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116444"/>
                  </a:ext>
                </a:extLst>
              </a:tr>
              <a:tr h="521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CRM Sync</a:t>
                      </a:r>
                    </a:p>
                  </a:txBody>
                  <a:tcPr marL="18190" marR="18190" marT="9095" marB="9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Depends on mailbox integration</a:t>
                      </a:r>
                    </a:p>
                  </a:txBody>
                  <a:tcPr marL="18190" marR="18190" marT="9095" marB="9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429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007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7B129-0F3F-1EEF-3E2C-F538849D1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D7439-01A0-C4C3-4D7F-001983AC4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554" y="848412"/>
            <a:ext cx="9520158" cy="79795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empus Sans ITC" panose="04020404030D07020202" pitchFamily="82" charset="0"/>
              </a:rPr>
              <a:t>TOOLS USED AND RATIONALE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8485C49-7FF6-60C6-1FE2-11AC982CFF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4445824"/>
              </p:ext>
            </p:extLst>
          </p:nvPr>
        </p:nvGraphicFramePr>
        <p:xfrm>
          <a:off x="1876849" y="1923069"/>
          <a:ext cx="10000925" cy="3860691"/>
        </p:xfrm>
        <a:graphic>
          <a:graphicData uri="http://schemas.openxmlformats.org/drawingml/2006/table">
            <a:tbl>
              <a:tblPr/>
              <a:tblGrid>
                <a:gridCol w="3166915">
                  <a:extLst>
                    <a:ext uri="{9D8B030D-6E8A-4147-A177-3AD203B41FA5}">
                      <a16:colId xmlns:a16="http://schemas.microsoft.com/office/drawing/2014/main" val="4149273851"/>
                    </a:ext>
                  </a:extLst>
                </a:gridCol>
                <a:gridCol w="3417005">
                  <a:extLst>
                    <a:ext uri="{9D8B030D-6E8A-4147-A177-3AD203B41FA5}">
                      <a16:colId xmlns:a16="http://schemas.microsoft.com/office/drawing/2014/main" val="295750604"/>
                    </a:ext>
                  </a:extLst>
                </a:gridCol>
                <a:gridCol w="3417005">
                  <a:extLst>
                    <a:ext uri="{9D8B030D-6E8A-4147-A177-3AD203B41FA5}">
                      <a16:colId xmlns:a16="http://schemas.microsoft.com/office/drawing/2014/main" val="1159681918"/>
                    </a:ext>
                  </a:extLst>
                </a:gridCol>
              </a:tblGrid>
              <a:tr h="21270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b="1" dirty="0">
                        <a:solidFill>
                          <a:schemeClr val="accent1"/>
                        </a:solidFill>
                      </a:endParaRPr>
                    </a:p>
                  </a:txBody>
                  <a:tcPr marL="8560" marR="8560" marT="4280" marB="42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b="1">
                        <a:solidFill>
                          <a:schemeClr val="accent1"/>
                        </a:solidFill>
                      </a:endParaRPr>
                    </a:p>
                  </a:txBody>
                  <a:tcPr marL="8560" marR="8560" marT="4280" marB="42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b="1" dirty="0">
                        <a:solidFill>
                          <a:schemeClr val="accent1"/>
                        </a:solidFill>
                      </a:endParaRPr>
                    </a:p>
                  </a:txBody>
                  <a:tcPr marL="8560" marR="8560" marT="4280" marB="42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201661"/>
                  </a:ext>
                </a:extLst>
              </a:tr>
              <a:tr h="5624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accent1"/>
                          </a:solidFill>
                        </a:rPr>
                        <a:t>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accent1"/>
                          </a:solidFill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800" dirty="0"/>
                    </a:p>
                  </a:txBody>
                  <a:tcPr marL="8560" marR="8560" marT="4280" marB="42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587270"/>
                  </a:ext>
                </a:extLst>
              </a:tr>
              <a:tr h="5624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HubSpot CRM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Contact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800" dirty="0"/>
                    </a:p>
                  </a:txBody>
                  <a:tcPr marL="8560" marR="8560" marT="4280" marB="42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9883505"/>
                  </a:ext>
                </a:extLst>
              </a:tr>
              <a:tr h="4788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Resend API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Reliable transactional email sending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800"/>
                    </a:p>
                  </a:txBody>
                  <a:tcPr marL="8560" marR="8560" marT="4280" marB="42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90241"/>
                  </a:ext>
                </a:extLst>
              </a:tr>
              <a:tr h="625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Node.js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Lightweight backend prototype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800"/>
                    </a:p>
                  </a:txBody>
                  <a:tcPr marL="8560" marR="8560" marT="4280" marB="42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5624890"/>
                  </a:ext>
                </a:extLst>
              </a:tr>
              <a:tr h="625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Gmail / Workspace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Reply tracking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800"/>
                    </a:p>
                  </a:txBody>
                  <a:tcPr marL="8560" marR="8560" marT="4280" marB="42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5533288"/>
                  </a:ext>
                </a:extLst>
              </a:tr>
              <a:tr h="5624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Manual LinkedIn Research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Context personalization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800" dirty="0"/>
                    </a:p>
                  </a:txBody>
                  <a:tcPr marL="8560" marR="8560" marT="4280" marB="42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063433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E40CF948-321B-B03C-7B51-C2883D436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554" y="2809873"/>
            <a:ext cx="426757" cy="5029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2626B1-C871-0E9E-4E47-1A492E079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554" y="3429000"/>
            <a:ext cx="411515" cy="4244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8902811-0E93-930B-3D39-BF5F978240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643" y="4072451"/>
            <a:ext cx="814779" cy="40389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ACD3A3C-6C30-BD68-CBD8-A0D4549D79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6196" y="4691579"/>
            <a:ext cx="431791" cy="50296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7D43A12-6DAD-2D9C-FD1D-748E3008AB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415" y="5316003"/>
            <a:ext cx="477329" cy="40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889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5DBC-08EF-629A-A5E3-94C93E3B5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B43A8-A097-E593-2D53-6EE67AE08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554" y="848412"/>
            <a:ext cx="9520158" cy="79795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Tempus Sans ITC" panose="04020404030D07020202" pitchFamily="82" charset="0"/>
              </a:rPr>
              <a:t>LIMITATIONS AND RISKS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25CA672-4A0F-7C06-9277-560ACAEA43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4176324"/>
              </p:ext>
            </p:extLst>
          </p:nvPr>
        </p:nvGraphicFramePr>
        <p:xfrm>
          <a:off x="1659118" y="1800520"/>
          <a:ext cx="9737889" cy="4234503"/>
        </p:xfrm>
        <a:graphic>
          <a:graphicData uri="http://schemas.openxmlformats.org/drawingml/2006/table">
            <a:tbl>
              <a:tblPr/>
              <a:tblGrid>
                <a:gridCol w="3245963">
                  <a:extLst>
                    <a:ext uri="{9D8B030D-6E8A-4147-A177-3AD203B41FA5}">
                      <a16:colId xmlns:a16="http://schemas.microsoft.com/office/drawing/2014/main" val="4149273851"/>
                    </a:ext>
                  </a:extLst>
                </a:gridCol>
                <a:gridCol w="3245963">
                  <a:extLst>
                    <a:ext uri="{9D8B030D-6E8A-4147-A177-3AD203B41FA5}">
                      <a16:colId xmlns:a16="http://schemas.microsoft.com/office/drawing/2014/main" val="295750604"/>
                    </a:ext>
                  </a:extLst>
                </a:gridCol>
                <a:gridCol w="3245963">
                  <a:extLst>
                    <a:ext uri="{9D8B030D-6E8A-4147-A177-3AD203B41FA5}">
                      <a16:colId xmlns:a16="http://schemas.microsoft.com/office/drawing/2014/main" val="1159681918"/>
                    </a:ext>
                  </a:extLst>
                </a:gridCol>
              </a:tblGrid>
              <a:tr h="308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accent1"/>
                          </a:solidFill>
                        </a:rPr>
                        <a:t>Limitations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accent1"/>
                          </a:solidFill>
                        </a:rPr>
                        <a:t>Safeguards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201661"/>
                  </a:ext>
                </a:extLst>
              </a:tr>
              <a:tr h="771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Quality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LinkedIn / contact data may be incomplete or outdated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Verify contact details before outreach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587270"/>
                  </a:ext>
                </a:extLst>
              </a:tr>
              <a:tr h="771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 Hallucination 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Email personalization may generate incorrect business assumptions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 only validated profile or company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90241"/>
                  </a:ext>
                </a:extLst>
              </a:tr>
              <a:tr h="771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Deliverability 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Emails may go to spam or be blocked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 verified domain, warm-up sender reputation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5624890"/>
                  </a:ext>
                </a:extLst>
              </a:tr>
              <a:tr h="771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Compliance 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Possible GDPR / CAN-SPAM violations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Add unsubscribe option and respect consent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5533288"/>
                  </a:ext>
                </a:extLst>
              </a:tr>
              <a:tr h="6309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Rate Limiting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API or mailbox sending limits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Implement throttling and retry logic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063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790583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EDEBE7"/>
      </a:lt2>
      <a:accent1>
        <a:srgbClr val="5FA534"/>
      </a:accent1>
      <a:accent2>
        <a:srgbClr val="DCAB34"/>
      </a:accent2>
      <a:accent3>
        <a:srgbClr val="D26D23"/>
      </a:accent3>
      <a:accent4>
        <a:srgbClr val="972323"/>
      </a:accent4>
      <a:accent5>
        <a:srgbClr val="236797"/>
      </a:accent5>
      <a:accent6>
        <a:srgbClr val="2FB6C6"/>
      </a:accent6>
      <a:hlink>
        <a:srgbClr val="8FC639"/>
      </a:hlink>
      <a:folHlink>
        <a:srgbClr val="E7C272"/>
      </a:folHlink>
    </a:clrScheme>
    <a:fontScheme name="Gallery">
      <a:majorFont>
        <a:latin typeface="Palatino Linotype" panose="020405020505050303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AC464412-510E-4F2B-8947-A0DDBD0289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536</TotalTime>
  <Words>281</Words>
  <Application>Microsoft Office PowerPoint</Application>
  <PresentationFormat>Widescreen</PresentationFormat>
  <Paragraphs>83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Palatino Linotype</vt:lpstr>
      <vt:lpstr>Palatino Linotype (Body)</vt:lpstr>
      <vt:lpstr>Snap ITC</vt:lpstr>
      <vt:lpstr>Tempus Sans ITC</vt:lpstr>
      <vt:lpstr>Times New Roman</vt:lpstr>
      <vt:lpstr>Wingdings</vt:lpstr>
      <vt:lpstr>Gallery</vt:lpstr>
      <vt:lpstr>HubSpot-Resend Intelligent Email Workflow</vt:lpstr>
      <vt:lpstr>Contents</vt:lpstr>
      <vt:lpstr>OBJECTIVE</vt:lpstr>
      <vt:lpstr>PowerPoint Presentation</vt:lpstr>
      <vt:lpstr>WORKING PROTOTYPE</vt:lpstr>
      <vt:lpstr>KEY PERFORMANCE OBSERVATIONS</vt:lpstr>
      <vt:lpstr>TOOLS USED AND RATIONALE</vt:lpstr>
      <vt:lpstr>LIMITATIONS AND RISKS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INDUSTRY, INNOVAION AND INFRASTRUCTURE</dc:title>
  <dc:creator>DARSHANIK</dc:creator>
  <cp:lastModifiedBy>Toran V Athani</cp:lastModifiedBy>
  <cp:revision>11</cp:revision>
  <dcterms:created xsi:type="dcterms:W3CDTF">2023-02-11T15:58:48Z</dcterms:created>
  <dcterms:modified xsi:type="dcterms:W3CDTF">2026-02-28T09:11:35Z</dcterms:modified>
</cp:coreProperties>
</file>